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6" r:id="rId2"/>
    <p:sldId id="260" r:id="rId3"/>
    <p:sldId id="259" r:id="rId4"/>
    <p:sldId id="261" r:id="rId5"/>
    <p:sldId id="262" r:id="rId6"/>
    <p:sldId id="263" r:id="rId7"/>
    <p:sldId id="264" r:id="rId8"/>
    <p:sldId id="257" r:id="rId9"/>
    <p:sldId id="258"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9" r:id="rId24"/>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000" autoAdjust="0"/>
    <p:restoredTop sz="94660"/>
  </p:normalViewPr>
  <p:slideViewPr>
    <p:cSldViewPr snapToGrid="0">
      <p:cViewPr varScale="1">
        <p:scale>
          <a:sx n="54" d="100"/>
          <a:sy n="54" d="100"/>
        </p:scale>
        <p:origin x="677" y="6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viewProps" Target="viewProps.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presProps" Target="pres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tableStyles" Target="tableStyle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theme" Target="theme/theme1.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n-US" smtClean="0"/>
              <a:t>Click to edit Master title style</a:t>
            </a:r>
            <a:endParaRPr lang="en-US"/>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D2552317-963D-46AA-93E8-1A4EE9A7F9C0}" type="datetimeFigureOut">
              <a:rPr lang="en-US" smtClean="0"/>
              <a:t>7/5/2020</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763E698F-5BF0-4AAB-9169-5537637A6092}" type="slidenum">
              <a:rPr lang="en-US" smtClean="0"/>
              <a:t>‹#›</a:t>
            </a:fld>
            <a:endParaRPr lang="en-US"/>
          </a:p>
        </p:txBody>
      </p:sp>
    </p:spTree>
    <p:extLst>
      <p:ext uri="{BB962C8B-B14F-4D97-AF65-F5344CB8AC3E}">
        <p14:creationId xmlns:p14="http://schemas.microsoft.com/office/powerpoint/2010/main" val="3338936202"/>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D2552317-963D-46AA-93E8-1A4EE9A7F9C0}" type="datetimeFigureOut">
              <a:rPr lang="en-US" smtClean="0"/>
              <a:t>7/5/2020</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763E698F-5BF0-4AAB-9169-5537637A6092}" type="slidenum">
              <a:rPr lang="en-US" smtClean="0"/>
              <a:t>‹#›</a:t>
            </a:fld>
            <a:endParaRPr lang="en-US"/>
          </a:p>
        </p:txBody>
      </p:sp>
    </p:spTree>
    <p:extLst>
      <p:ext uri="{BB962C8B-B14F-4D97-AF65-F5344CB8AC3E}">
        <p14:creationId xmlns:p14="http://schemas.microsoft.com/office/powerpoint/2010/main" val="2032931120"/>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en-US" smtClean="0"/>
              <a:t>Click to edit Master title style</a:t>
            </a:r>
            <a:endParaRPr lang="en-US"/>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smtClean="0"/>
              <a:t>Edit Master text styles</a:t>
            </a:r>
          </a:p>
        </p:txBody>
      </p:sp>
      <p:sp>
        <p:nvSpPr>
          <p:cNvPr id="4" name="Date Placeholder 3"/>
          <p:cNvSpPr>
            <a:spLocks noGrp="1"/>
          </p:cNvSpPr>
          <p:nvPr>
            <p:ph type="dt" sz="half" idx="10"/>
          </p:nvPr>
        </p:nvSpPr>
        <p:spPr/>
        <p:txBody>
          <a:bodyPr/>
          <a:lstStyle/>
          <a:p>
            <a:fld id="{D2552317-963D-46AA-93E8-1A4EE9A7F9C0}" type="datetimeFigureOut">
              <a:rPr lang="en-US" smtClean="0"/>
              <a:t>7/5/2020</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763E698F-5BF0-4AAB-9169-5537637A6092}" type="slidenum">
              <a:rPr lang="en-US" smtClean="0"/>
              <a:t>‹#›</a:t>
            </a:fld>
            <a:endParaRPr lang="en-US"/>
          </a:p>
        </p:txBody>
      </p:sp>
    </p:spTree>
    <p:extLst>
      <p:ext uri="{BB962C8B-B14F-4D97-AF65-F5344CB8AC3E}">
        <p14:creationId xmlns:p14="http://schemas.microsoft.com/office/powerpoint/2010/main" val="257199584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838200" y="1825625"/>
            <a:ext cx="5181600" cy="4351338"/>
          </a:xfrm>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6172200" y="1825625"/>
            <a:ext cx="5181600" cy="4351338"/>
          </a:xfrm>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D2552317-963D-46AA-93E8-1A4EE9A7F9C0}" type="datetimeFigureOut">
              <a:rPr lang="en-US" smtClean="0"/>
              <a:t>7/5/2020</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763E698F-5BF0-4AAB-9169-5537637A6092}" type="slidenum">
              <a:rPr lang="en-US" smtClean="0"/>
              <a:t>‹#›</a:t>
            </a:fld>
            <a:endParaRPr lang="en-US"/>
          </a:p>
        </p:txBody>
      </p:sp>
    </p:spTree>
    <p:extLst>
      <p:ext uri="{BB962C8B-B14F-4D97-AF65-F5344CB8AC3E}">
        <p14:creationId xmlns:p14="http://schemas.microsoft.com/office/powerpoint/2010/main" val="2189987165"/>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en-US" smtClean="0"/>
              <a:t>Click to edit Master title style</a:t>
            </a:r>
            <a:endParaRPr lang="en-US"/>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Edit Master text styles</a:t>
            </a:r>
          </a:p>
        </p:txBody>
      </p:sp>
      <p:sp>
        <p:nvSpPr>
          <p:cNvPr id="4" name="Content Placeholder 3"/>
          <p:cNvSpPr>
            <a:spLocks noGrp="1"/>
          </p:cNvSpPr>
          <p:nvPr>
            <p:ph sz="half" idx="2"/>
          </p:nvPr>
        </p:nvSpPr>
        <p:spPr>
          <a:xfrm>
            <a:off x="839788" y="2505075"/>
            <a:ext cx="5157787" cy="3684588"/>
          </a:xfrm>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Edit Master text styles</a:t>
            </a:r>
          </a:p>
        </p:txBody>
      </p:sp>
      <p:sp>
        <p:nvSpPr>
          <p:cNvPr id="6" name="Content Placeholder 5"/>
          <p:cNvSpPr>
            <a:spLocks noGrp="1"/>
          </p:cNvSpPr>
          <p:nvPr>
            <p:ph sz="quarter" idx="4"/>
          </p:nvPr>
        </p:nvSpPr>
        <p:spPr>
          <a:xfrm>
            <a:off x="6172200" y="2505075"/>
            <a:ext cx="5183188" cy="3684588"/>
          </a:xfrm>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D2552317-963D-46AA-93E8-1A4EE9A7F9C0}" type="datetimeFigureOut">
              <a:rPr lang="en-US" smtClean="0"/>
              <a:t>7/5/2020</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763E698F-5BF0-4AAB-9169-5537637A6092}" type="slidenum">
              <a:rPr lang="en-US" smtClean="0"/>
              <a:t>‹#›</a:t>
            </a:fld>
            <a:endParaRPr lang="en-US"/>
          </a:p>
        </p:txBody>
      </p:sp>
    </p:spTree>
    <p:extLst>
      <p:ext uri="{BB962C8B-B14F-4D97-AF65-F5344CB8AC3E}">
        <p14:creationId xmlns:p14="http://schemas.microsoft.com/office/powerpoint/2010/main" val="157975470"/>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D2552317-963D-46AA-93E8-1A4EE9A7F9C0}" type="datetimeFigureOut">
              <a:rPr lang="en-US" smtClean="0"/>
              <a:t>7/5/2020</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763E698F-5BF0-4AAB-9169-5537637A6092}" type="slidenum">
              <a:rPr lang="en-US" smtClean="0"/>
              <a:t>‹#›</a:t>
            </a:fld>
            <a:endParaRPr lang="en-US"/>
          </a:p>
        </p:txBody>
      </p:sp>
    </p:spTree>
    <p:extLst>
      <p:ext uri="{BB962C8B-B14F-4D97-AF65-F5344CB8AC3E}">
        <p14:creationId xmlns:p14="http://schemas.microsoft.com/office/powerpoint/2010/main" val="4206026293"/>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D2552317-963D-46AA-93E8-1A4EE9A7F9C0}" type="datetimeFigureOut">
              <a:rPr lang="en-US" smtClean="0"/>
              <a:t>7/5/2020</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763E698F-5BF0-4AAB-9169-5537637A6092}" type="slidenum">
              <a:rPr lang="en-US" smtClean="0"/>
              <a:t>‹#›</a:t>
            </a:fld>
            <a:endParaRPr lang="en-US"/>
          </a:p>
        </p:txBody>
      </p:sp>
    </p:spTree>
    <p:extLst>
      <p:ext uri="{BB962C8B-B14F-4D97-AF65-F5344CB8AC3E}">
        <p14:creationId xmlns:p14="http://schemas.microsoft.com/office/powerpoint/2010/main" val="2796197725"/>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smtClean="0"/>
              <a:t>Click to edit Master title style</a:t>
            </a:r>
            <a:endParaRPr lang="en-US"/>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smtClean="0"/>
              <a:t>Edit Master text styles</a:t>
            </a:r>
          </a:p>
        </p:txBody>
      </p:sp>
      <p:sp>
        <p:nvSpPr>
          <p:cNvPr id="5" name="Date Placeholder 4"/>
          <p:cNvSpPr>
            <a:spLocks noGrp="1"/>
          </p:cNvSpPr>
          <p:nvPr>
            <p:ph type="dt" sz="half" idx="10"/>
          </p:nvPr>
        </p:nvSpPr>
        <p:spPr/>
        <p:txBody>
          <a:bodyPr/>
          <a:lstStyle/>
          <a:p>
            <a:fld id="{D2552317-963D-46AA-93E8-1A4EE9A7F9C0}" type="datetimeFigureOut">
              <a:rPr lang="en-US" smtClean="0"/>
              <a:t>7/5/2020</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763E698F-5BF0-4AAB-9169-5537637A6092}" type="slidenum">
              <a:rPr lang="en-US" smtClean="0"/>
              <a:t>‹#›</a:t>
            </a:fld>
            <a:endParaRPr lang="en-US"/>
          </a:p>
        </p:txBody>
      </p:sp>
    </p:spTree>
    <p:extLst>
      <p:ext uri="{BB962C8B-B14F-4D97-AF65-F5344CB8AC3E}">
        <p14:creationId xmlns:p14="http://schemas.microsoft.com/office/powerpoint/2010/main" val="2890141402"/>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smtClean="0"/>
              <a:t>Click to edit Master title style</a:t>
            </a:r>
            <a:endParaRPr lang="en-US"/>
          </a:p>
        </p:txBody>
      </p:sp>
      <p:sp>
        <p:nvSpPr>
          <p:cNvPr id="3" name="Picture Placeholder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smtClean="0"/>
              <a:t>Edit Master text styles</a:t>
            </a:r>
          </a:p>
        </p:txBody>
      </p:sp>
      <p:sp>
        <p:nvSpPr>
          <p:cNvPr id="5" name="Date Placeholder 4"/>
          <p:cNvSpPr>
            <a:spLocks noGrp="1"/>
          </p:cNvSpPr>
          <p:nvPr>
            <p:ph type="dt" sz="half" idx="10"/>
          </p:nvPr>
        </p:nvSpPr>
        <p:spPr/>
        <p:txBody>
          <a:bodyPr/>
          <a:lstStyle/>
          <a:p>
            <a:fld id="{D2552317-963D-46AA-93E8-1A4EE9A7F9C0}" type="datetimeFigureOut">
              <a:rPr lang="en-US" smtClean="0"/>
              <a:t>7/5/2020</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763E698F-5BF0-4AAB-9169-5537637A6092}" type="slidenum">
              <a:rPr lang="en-US" smtClean="0"/>
              <a:t>‹#›</a:t>
            </a:fld>
            <a:endParaRPr lang="en-US"/>
          </a:p>
        </p:txBody>
      </p:sp>
    </p:spTree>
    <p:extLst>
      <p:ext uri="{BB962C8B-B14F-4D97-AF65-F5344CB8AC3E}">
        <p14:creationId xmlns:p14="http://schemas.microsoft.com/office/powerpoint/2010/main" val="4071766975"/>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D2552317-963D-46AA-93E8-1A4EE9A7F9C0}" type="datetimeFigureOut">
              <a:rPr lang="en-US" smtClean="0"/>
              <a:t>7/5/2020</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763E698F-5BF0-4AAB-9169-5537637A6092}" type="slidenum">
              <a:rPr lang="en-US" smtClean="0"/>
              <a:t>‹#›</a:t>
            </a:fld>
            <a:endParaRPr lang="en-US"/>
          </a:p>
        </p:txBody>
      </p:sp>
    </p:spTree>
    <p:extLst>
      <p:ext uri="{BB962C8B-B14F-4D97-AF65-F5344CB8AC3E}">
        <p14:creationId xmlns:p14="http://schemas.microsoft.com/office/powerpoint/2010/main" val="2139903460"/>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D2552317-963D-46AA-93E8-1A4EE9A7F9C0}" type="datetimeFigureOut">
              <a:rPr lang="en-US" smtClean="0"/>
              <a:t>7/5/2020</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763E698F-5BF0-4AAB-9169-5537637A6092}" type="slidenum">
              <a:rPr lang="en-US" smtClean="0"/>
              <a:t>‹#›</a:t>
            </a:fld>
            <a:endParaRPr lang="en-US"/>
          </a:p>
        </p:txBody>
      </p:sp>
    </p:spTree>
    <p:extLst>
      <p:ext uri="{BB962C8B-B14F-4D97-AF65-F5344CB8AC3E}">
        <p14:creationId xmlns:p14="http://schemas.microsoft.com/office/powerpoint/2010/main" val="442621704"/>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D2552317-963D-46AA-93E8-1A4EE9A7F9C0}" type="datetimeFigureOut">
              <a:rPr lang="en-US" smtClean="0"/>
              <a:t>7/5/2020</a:t>
            </a:fld>
            <a:endParaRPr lang="en-US"/>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763E698F-5BF0-4AAB-9169-5537637A6092}" type="slidenum">
              <a:rPr lang="en-US" smtClean="0"/>
              <a:t>‹#›</a:t>
            </a:fld>
            <a:endParaRPr lang="en-US"/>
          </a:p>
        </p:txBody>
      </p:sp>
    </p:spTree>
    <p:extLst>
      <p:ext uri="{BB962C8B-B14F-4D97-AF65-F5344CB8AC3E}">
        <p14:creationId xmlns:p14="http://schemas.microsoft.com/office/powerpoint/2010/main" val="477409858"/>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smtClean="0">
                <a:latin typeface="Times New Roman" panose="02020603050405020304" pitchFamily="18" charset="0"/>
                <a:cs typeface="Times New Roman" panose="02020603050405020304" pitchFamily="18" charset="0"/>
              </a:rPr>
              <a:t>AES (Advanced </a:t>
            </a:r>
            <a:r>
              <a:rPr lang="en-US" b="1" dirty="0">
                <a:latin typeface="Times New Roman" panose="02020603050405020304" pitchFamily="18" charset="0"/>
                <a:cs typeface="Times New Roman" panose="02020603050405020304" pitchFamily="18" charset="0"/>
              </a:rPr>
              <a:t>Encryption </a:t>
            </a:r>
            <a:r>
              <a:rPr lang="en-US" b="1" dirty="0" smtClean="0">
                <a:latin typeface="Times New Roman" panose="02020603050405020304" pitchFamily="18" charset="0"/>
                <a:cs typeface="Times New Roman" panose="02020603050405020304" pitchFamily="18" charset="0"/>
              </a:rPr>
              <a:t>Standard)</a:t>
            </a:r>
            <a:endParaRPr lang="en-US" b="1" dirty="0">
              <a:latin typeface="Times New Roman" panose="02020603050405020304" pitchFamily="18" charset="0"/>
              <a:cs typeface="Times New Roman" panose="02020603050405020304" pitchFamily="18" charset="0"/>
            </a:endParaRPr>
          </a:p>
        </p:txBody>
      </p:sp>
      <p:sp>
        <p:nvSpPr>
          <p:cNvPr id="3" name="Content Placeholder 2"/>
          <p:cNvSpPr>
            <a:spLocks noGrp="1"/>
          </p:cNvSpPr>
          <p:nvPr>
            <p:ph idx="1"/>
          </p:nvPr>
        </p:nvSpPr>
        <p:spPr/>
        <p:txBody>
          <a:bodyPr>
            <a:normAutofit fontScale="92500" lnSpcReduction="10000"/>
          </a:bodyPr>
          <a:lstStyle/>
          <a:p>
            <a:r>
              <a:rPr lang="en-US" b="1" dirty="0" smtClean="0"/>
              <a:t>INTRODUCTION:</a:t>
            </a:r>
          </a:p>
          <a:p>
            <a:r>
              <a:rPr lang="en-US" dirty="0"/>
              <a:t> The Advanced Encryption Standard (AES) is a symmetric-key block cipher published by the National Institute of Standards and Technology (NIST) in December 2001</a:t>
            </a:r>
            <a:r>
              <a:rPr lang="en-US" dirty="0" smtClean="0"/>
              <a:t>.</a:t>
            </a:r>
          </a:p>
          <a:p>
            <a:r>
              <a:rPr lang="en-US" b="1" dirty="0" smtClean="0"/>
              <a:t>History:</a:t>
            </a:r>
          </a:p>
          <a:p>
            <a:r>
              <a:rPr lang="en-US" dirty="0"/>
              <a:t>It supersedes the Data Encryption Standard (DES), which was published in 1977. The algorithm described by </a:t>
            </a:r>
            <a:r>
              <a:rPr lang="en-US" b="1" dirty="0"/>
              <a:t>AES</a:t>
            </a:r>
            <a:r>
              <a:rPr lang="en-US" dirty="0"/>
              <a:t> is a symmetric-key algorithm, meaning the same key is used for both encrypting and decrypting the data. In the United States, </a:t>
            </a:r>
            <a:r>
              <a:rPr lang="en-US" b="1" dirty="0"/>
              <a:t>AES</a:t>
            </a:r>
            <a:r>
              <a:rPr lang="en-US" dirty="0"/>
              <a:t> was announced by the NIST as U.S. FIPS PUB 197 (FIPS 197) on November 26, 2001.</a:t>
            </a:r>
            <a:endParaRPr lang="en-US" b="1" dirty="0" smtClean="0"/>
          </a:p>
          <a:p>
            <a:pPr marL="0" indent="0">
              <a:buNone/>
            </a:pPr>
            <a:r>
              <a:rPr lang="en-US" dirty="0"/>
              <a:t> </a:t>
            </a:r>
            <a:endParaRPr lang="en-US" b="1" dirty="0"/>
          </a:p>
          <a:p>
            <a:endParaRPr lang="en-US" dirty="0"/>
          </a:p>
        </p:txBody>
      </p:sp>
    </p:spTree>
    <p:extLst>
      <p:ext uri="{BB962C8B-B14F-4D97-AF65-F5344CB8AC3E}">
        <p14:creationId xmlns:p14="http://schemas.microsoft.com/office/powerpoint/2010/main" val="3283713200"/>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latin typeface="Times New Roman" panose="02020603050405020304" pitchFamily="18" charset="0"/>
                <a:cs typeface="Times New Roman" panose="02020603050405020304" pitchFamily="18" charset="0"/>
              </a:rPr>
              <a:t>AES (Advanced Encryption Standard)</a:t>
            </a:r>
            <a:endParaRPr lang="en-US" dirty="0"/>
          </a:p>
        </p:txBody>
      </p:sp>
      <p:sp>
        <p:nvSpPr>
          <p:cNvPr id="3" name="Content Placeholder 2"/>
          <p:cNvSpPr>
            <a:spLocks noGrp="1"/>
          </p:cNvSpPr>
          <p:nvPr>
            <p:ph idx="1"/>
          </p:nvPr>
        </p:nvSpPr>
        <p:spPr/>
        <p:txBody>
          <a:bodyPr/>
          <a:lstStyle/>
          <a:p>
            <a:r>
              <a:rPr lang="en-US" dirty="0"/>
              <a:t>AES is a subset of the </a:t>
            </a:r>
            <a:r>
              <a:rPr lang="en-US" dirty="0" err="1"/>
              <a:t>Rijndael</a:t>
            </a:r>
            <a:r>
              <a:rPr lang="en-US" dirty="0"/>
              <a:t> block </a:t>
            </a:r>
            <a:r>
              <a:rPr lang="en-US" dirty="0" smtClean="0"/>
              <a:t>cipher</a:t>
            </a:r>
            <a:r>
              <a:rPr lang="en-US" dirty="0"/>
              <a:t> developed by two Belgian cryptographers, Vincent </a:t>
            </a:r>
            <a:r>
              <a:rPr lang="en-US" dirty="0" err="1"/>
              <a:t>Rijmen</a:t>
            </a:r>
            <a:r>
              <a:rPr lang="en-US" dirty="0"/>
              <a:t> and Joan </a:t>
            </a:r>
            <a:r>
              <a:rPr lang="en-US" dirty="0" err="1"/>
              <a:t>Daemen</a:t>
            </a:r>
            <a:r>
              <a:rPr lang="en-US" dirty="0"/>
              <a:t>, who submitted a </a:t>
            </a:r>
            <a:r>
              <a:rPr lang="en-US" dirty="0" smtClean="0"/>
              <a:t>proposal</a:t>
            </a:r>
            <a:r>
              <a:rPr lang="en-US" dirty="0"/>
              <a:t> to NIST during the AES </a:t>
            </a:r>
            <a:r>
              <a:rPr lang="en-US" dirty="0" smtClean="0"/>
              <a:t>selection </a:t>
            </a:r>
            <a:r>
              <a:rPr lang="en-US" dirty="0"/>
              <a:t>process</a:t>
            </a:r>
            <a:r>
              <a:rPr lang="en-US" dirty="0" smtClean="0"/>
              <a:t>.</a:t>
            </a:r>
            <a:r>
              <a:rPr lang="en-US" dirty="0"/>
              <a:t> </a:t>
            </a:r>
            <a:endParaRPr lang="en-US" dirty="0" smtClean="0"/>
          </a:p>
          <a:p>
            <a:r>
              <a:rPr lang="en-US" dirty="0" err="1" smtClean="0"/>
              <a:t>Rijndael</a:t>
            </a:r>
            <a:r>
              <a:rPr lang="en-US" dirty="0" smtClean="0"/>
              <a:t> </a:t>
            </a:r>
            <a:r>
              <a:rPr lang="en-US" dirty="0"/>
              <a:t>is a family of ciphers with different key and block sizes.</a:t>
            </a:r>
          </a:p>
          <a:p>
            <a:r>
              <a:rPr lang="en-US" dirty="0"/>
              <a:t>For AES, NIST selected three members of the </a:t>
            </a:r>
            <a:r>
              <a:rPr lang="en-US" dirty="0" err="1"/>
              <a:t>Rijndael</a:t>
            </a:r>
            <a:r>
              <a:rPr lang="en-US" dirty="0"/>
              <a:t> family, each with a block size of 128 bits, but three different key lengths: 128, 192 and 256 bits.</a:t>
            </a:r>
          </a:p>
          <a:p>
            <a:endParaRPr lang="en-US" dirty="0"/>
          </a:p>
        </p:txBody>
      </p:sp>
    </p:spTree>
    <p:extLst>
      <p:ext uri="{BB962C8B-B14F-4D97-AF65-F5344CB8AC3E}">
        <p14:creationId xmlns:p14="http://schemas.microsoft.com/office/powerpoint/2010/main" val="398922040"/>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latin typeface="Times New Roman" panose="02020603050405020304" pitchFamily="18" charset="0"/>
                <a:cs typeface="Times New Roman" panose="02020603050405020304" pitchFamily="18" charset="0"/>
              </a:rPr>
              <a:t>AES (Advanced Encryption Standard)</a:t>
            </a:r>
            <a:endParaRPr lang="en-US" dirty="0"/>
          </a:p>
        </p:txBody>
      </p:sp>
      <p:sp>
        <p:nvSpPr>
          <p:cNvPr id="3" name="Content Placeholder 2"/>
          <p:cNvSpPr>
            <a:spLocks noGrp="1"/>
          </p:cNvSpPr>
          <p:nvPr>
            <p:ph idx="1"/>
          </p:nvPr>
        </p:nvSpPr>
        <p:spPr/>
        <p:txBody>
          <a:bodyPr/>
          <a:lstStyle/>
          <a:p>
            <a:r>
              <a:rPr lang="en-US" b="1" dirty="0"/>
              <a:t>Criteria:</a:t>
            </a:r>
          </a:p>
          <a:p>
            <a:r>
              <a:rPr lang="en-US" dirty="0"/>
              <a:t> The criteria defined by NIST for selecting AES fall into three areas:</a:t>
            </a:r>
          </a:p>
          <a:p>
            <a:r>
              <a:rPr lang="en-US" dirty="0"/>
              <a:t> 1. Security -128 bit key</a:t>
            </a:r>
          </a:p>
          <a:p>
            <a:r>
              <a:rPr lang="en-US" dirty="0"/>
              <a:t> 2. Cost computational efficiency , storage requirement </a:t>
            </a:r>
          </a:p>
          <a:p>
            <a:r>
              <a:rPr lang="en-US" dirty="0"/>
              <a:t>3.Implementation flexibility and simplicity (implementable on any platform)</a:t>
            </a:r>
          </a:p>
          <a:p>
            <a:endParaRPr lang="en-US" dirty="0"/>
          </a:p>
        </p:txBody>
      </p:sp>
    </p:spTree>
    <p:extLst>
      <p:ext uri="{BB962C8B-B14F-4D97-AF65-F5344CB8AC3E}">
        <p14:creationId xmlns:p14="http://schemas.microsoft.com/office/powerpoint/2010/main" val="3805653741"/>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latin typeface="Times New Roman" panose="02020603050405020304" pitchFamily="18" charset="0"/>
                <a:cs typeface="Times New Roman" panose="02020603050405020304" pitchFamily="18" charset="0"/>
              </a:rPr>
              <a:t>AES (Advanced Encryption Standard)</a:t>
            </a:r>
            <a:endParaRPr lang="en-US" dirty="0"/>
          </a:p>
        </p:txBody>
      </p:sp>
      <p:sp>
        <p:nvSpPr>
          <p:cNvPr id="3" name="Content Placeholder 2"/>
          <p:cNvSpPr>
            <a:spLocks noGrp="1"/>
          </p:cNvSpPr>
          <p:nvPr>
            <p:ph idx="1"/>
          </p:nvPr>
        </p:nvSpPr>
        <p:spPr/>
        <p:txBody>
          <a:bodyPr/>
          <a:lstStyle/>
          <a:p>
            <a:r>
              <a:rPr lang="en-US" dirty="0"/>
              <a:t>AES has been adopted by the U.S. government and is now used worldwide. </a:t>
            </a:r>
            <a:endParaRPr lang="en-US" dirty="0" smtClean="0"/>
          </a:p>
          <a:p>
            <a:r>
              <a:rPr lang="en-US" dirty="0" smtClean="0"/>
              <a:t>The </a:t>
            </a:r>
            <a:r>
              <a:rPr lang="en-US" dirty="0"/>
              <a:t>algorithm described by AES is a symmetric-key algorithm, meaning the same key is used for both encrypting and decrypting the data.</a:t>
            </a:r>
          </a:p>
        </p:txBody>
      </p:sp>
    </p:spTree>
    <p:extLst>
      <p:ext uri="{BB962C8B-B14F-4D97-AF65-F5344CB8AC3E}">
        <p14:creationId xmlns:p14="http://schemas.microsoft.com/office/powerpoint/2010/main" val="3130709866"/>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latin typeface="Times New Roman" panose="02020603050405020304" pitchFamily="18" charset="0"/>
                <a:cs typeface="Times New Roman" panose="02020603050405020304" pitchFamily="18" charset="0"/>
              </a:rPr>
              <a:t>AES (Advanced Encryption Standard)</a:t>
            </a:r>
            <a:endParaRPr lang="en-US" dirty="0"/>
          </a:p>
        </p:txBody>
      </p:sp>
      <p:sp>
        <p:nvSpPr>
          <p:cNvPr id="3" name="Content Placeholder 2"/>
          <p:cNvSpPr>
            <a:spLocks noGrp="1"/>
          </p:cNvSpPr>
          <p:nvPr>
            <p:ph idx="1"/>
          </p:nvPr>
        </p:nvSpPr>
        <p:spPr/>
        <p:txBody>
          <a:bodyPr/>
          <a:lstStyle/>
          <a:p>
            <a:r>
              <a:rPr lang="en-US" dirty="0"/>
              <a:t>AES became effective as a federal government standard on May 26, 2002, after approval by the Secretary of Commerce</a:t>
            </a:r>
            <a:r>
              <a:rPr lang="en-US" dirty="0" smtClean="0"/>
              <a:t>.</a:t>
            </a:r>
          </a:p>
          <a:p>
            <a:r>
              <a:rPr lang="en-US" dirty="0" smtClean="0"/>
              <a:t> </a:t>
            </a:r>
            <a:r>
              <a:rPr lang="en-US" dirty="0"/>
              <a:t>AES is included in the </a:t>
            </a:r>
            <a:r>
              <a:rPr lang="en-US" dirty="0" smtClean="0"/>
              <a:t>ISO</a:t>
            </a:r>
            <a:r>
              <a:rPr lang="en-US" dirty="0"/>
              <a:t> 18033-3 standard. AES is available in many different encryption packages, and is the first (and only) publicly accessible cipher approved by the National Security </a:t>
            </a:r>
            <a:r>
              <a:rPr lang="en-US" dirty="0" smtClean="0"/>
              <a:t>Agency </a:t>
            </a:r>
            <a:r>
              <a:rPr lang="en-US" dirty="0"/>
              <a:t>NSA) for top secret information when used in an NSA approved cryptographic </a:t>
            </a:r>
            <a:r>
              <a:rPr lang="en-US" dirty="0" smtClean="0"/>
              <a:t>module.</a:t>
            </a:r>
            <a:endParaRPr lang="en-US" dirty="0"/>
          </a:p>
        </p:txBody>
      </p:sp>
    </p:spTree>
    <p:extLst>
      <p:ext uri="{BB962C8B-B14F-4D97-AF65-F5344CB8AC3E}">
        <p14:creationId xmlns:p14="http://schemas.microsoft.com/office/powerpoint/2010/main" val="1896539258"/>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latin typeface="Times New Roman" panose="02020603050405020304" pitchFamily="18" charset="0"/>
                <a:cs typeface="Times New Roman" panose="02020603050405020304" pitchFamily="18" charset="0"/>
              </a:rPr>
              <a:t>AES (Advanced Encryption Standard)</a:t>
            </a:r>
            <a:endParaRPr lang="en-US" dirty="0"/>
          </a:p>
        </p:txBody>
      </p:sp>
      <p:sp>
        <p:nvSpPr>
          <p:cNvPr id="3" name="Content Placeholder 2"/>
          <p:cNvSpPr>
            <a:spLocks noGrp="1"/>
          </p:cNvSpPr>
          <p:nvPr>
            <p:ph idx="1"/>
          </p:nvPr>
        </p:nvSpPr>
        <p:spPr/>
        <p:txBody>
          <a:bodyPr/>
          <a:lstStyle/>
          <a:p>
            <a:r>
              <a:rPr lang="en-US" dirty="0"/>
              <a:t>AES is based on a design principle known as a substitution–permutation network, and is efficient in both software and hardware</a:t>
            </a:r>
            <a:r>
              <a:rPr lang="en-US" dirty="0" smtClean="0"/>
              <a:t>.</a:t>
            </a:r>
            <a:endParaRPr lang="en-US" baseline="30000" dirty="0"/>
          </a:p>
          <a:p>
            <a:r>
              <a:rPr lang="en-US" dirty="0" smtClean="0"/>
              <a:t> </a:t>
            </a:r>
            <a:r>
              <a:rPr lang="en-US" dirty="0"/>
              <a:t>AES does not use a </a:t>
            </a:r>
            <a:r>
              <a:rPr lang="en-US" dirty="0" err="1"/>
              <a:t>Feistel</a:t>
            </a:r>
            <a:r>
              <a:rPr lang="en-US" dirty="0"/>
              <a:t> network. AES is a </a:t>
            </a:r>
            <a:r>
              <a:rPr lang="en-US" dirty="0" smtClean="0"/>
              <a:t>modified </a:t>
            </a:r>
            <a:r>
              <a:rPr lang="en-US" dirty="0"/>
              <a:t>of </a:t>
            </a:r>
            <a:r>
              <a:rPr lang="en-US" dirty="0" err="1"/>
              <a:t>Rijndael</a:t>
            </a:r>
            <a:r>
              <a:rPr lang="en-US" dirty="0"/>
              <a:t>, with a fixed block size of 128 bits, and a key size of 128, 192, or 256 bits. </a:t>
            </a:r>
            <a:endParaRPr lang="en-US" dirty="0" smtClean="0"/>
          </a:p>
        </p:txBody>
      </p:sp>
    </p:spTree>
    <p:extLst>
      <p:ext uri="{BB962C8B-B14F-4D97-AF65-F5344CB8AC3E}">
        <p14:creationId xmlns:p14="http://schemas.microsoft.com/office/powerpoint/2010/main" val="706292832"/>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latin typeface="Times New Roman" panose="02020603050405020304" pitchFamily="18" charset="0"/>
                <a:cs typeface="Times New Roman" panose="02020603050405020304" pitchFamily="18" charset="0"/>
              </a:rPr>
              <a:t>AES (Advanced Encryption Standard)</a:t>
            </a:r>
            <a:endParaRPr lang="en-US" dirty="0"/>
          </a:p>
        </p:txBody>
      </p:sp>
      <p:sp>
        <p:nvSpPr>
          <p:cNvPr id="3" name="Content Placeholder 2"/>
          <p:cNvSpPr>
            <a:spLocks noGrp="1"/>
          </p:cNvSpPr>
          <p:nvPr>
            <p:ph idx="1"/>
          </p:nvPr>
        </p:nvSpPr>
        <p:spPr/>
        <p:txBody>
          <a:bodyPr/>
          <a:lstStyle/>
          <a:p>
            <a:r>
              <a:rPr lang="en-US" dirty="0"/>
              <a:t>AES operates on a 4 × 4 column-major order array of bytes, termed the state</a:t>
            </a:r>
            <a:r>
              <a:rPr lang="en-US" dirty="0" smtClean="0"/>
              <a:t>. </a:t>
            </a:r>
            <a:r>
              <a:rPr lang="en-US" dirty="0"/>
              <a:t>Most AES calculations are done in a particular finite field</a:t>
            </a:r>
            <a:r>
              <a:rPr lang="en-US" dirty="0" smtClean="0"/>
              <a:t>.</a:t>
            </a:r>
          </a:p>
          <a:p>
            <a:endParaRPr lang="en-US" dirty="0"/>
          </a:p>
        </p:txBody>
      </p:sp>
      <p:pic>
        <p:nvPicPr>
          <p:cNvPr id="11" name="Picture 10"/>
          <p:cNvPicPr>
            <a:picLocks noChangeAspect="1"/>
          </p:cNvPicPr>
          <p:nvPr/>
        </p:nvPicPr>
        <p:blipFill>
          <a:blip r:embed="rId2"/>
          <a:stretch>
            <a:fillRect/>
          </a:stretch>
        </p:blipFill>
        <p:spPr>
          <a:xfrm>
            <a:off x="838200" y="2871988"/>
            <a:ext cx="9245958" cy="2434107"/>
          </a:xfrm>
          <a:prstGeom prst="rect">
            <a:avLst/>
          </a:prstGeom>
        </p:spPr>
      </p:pic>
    </p:spTree>
    <p:extLst>
      <p:ext uri="{BB962C8B-B14F-4D97-AF65-F5344CB8AC3E}">
        <p14:creationId xmlns:p14="http://schemas.microsoft.com/office/powerpoint/2010/main" val="2376617600"/>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smtClean="0">
                <a:latin typeface="Times New Roman" panose="02020603050405020304" pitchFamily="18" charset="0"/>
                <a:cs typeface="Times New Roman" panose="02020603050405020304" pitchFamily="18" charset="0"/>
              </a:rPr>
              <a:t>AES (Advanced Encryption Standard)</a:t>
            </a:r>
            <a:endParaRPr lang="en-US" dirty="0"/>
          </a:p>
        </p:txBody>
      </p:sp>
      <p:sp>
        <p:nvSpPr>
          <p:cNvPr id="3" name="Content Placeholder 2"/>
          <p:cNvSpPr>
            <a:spLocks noGrp="1"/>
          </p:cNvSpPr>
          <p:nvPr>
            <p:ph idx="1"/>
          </p:nvPr>
        </p:nvSpPr>
        <p:spPr/>
        <p:txBody>
          <a:bodyPr/>
          <a:lstStyle/>
          <a:p>
            <a:r>
              <a:rPr lang="en-US" dirty="0"/>
              <a:t>The key size used for an AES cipher specifies the number of transformation rounds that convert the input, called the plaintext, into the final output, called the </a:t>
            </a:r>
            <a:r>
              <a:rPr lang="en-US" dirty="0" err="1"/>
              <a:t>ciphertext</a:t>
            </a:r>
            <a:r>
              <a:rPr lang="en-US" dirty="0"/>
              <a:t>. The number of rounds are as follows:</a:t>
            </a:r>
          </a:p>
          <a:p>
            <a:r>
              <a:rPr lang="en-US" dirty="0"/>
              <a:t>10 rounds for 128-bit keys.</a:t>
            </a:r>
          </a:p>
          <a:p>
            <a:r>
              <a:rPr lang="en-US" dirty="0"/>
              <a:t>12 rounds for 192-bit keys.</a:t>
            </a:r>
          </a:p>
          <a:p>
            <a:r>
              <a:rPr lang="en-US" dirty="0"/>
              <a:t>14 rounds for 256-bit keys.</a:t>
            </a:r>
          </a:p>
          <a:p>
            <a:endParaRPr lang="en-US" dirty="0"/>
          </a:p>
        </p:txBody>
      </p:sp>
    </p:spTree>
    <p:extLst>
      <p:ext uri="{BB962C8B-B14F-4D97-AF65-F5344CB8AC3E}">
        <p14:creationId xmlns:p14="http://schemas.microsoft.com/office/powerpoint/2010/main" val="3717296855"/>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smtClean="0">
                <a:latin typeface="Times New Roman" panose="02020603050405020304" pitchFamily="18" charset="0"/>
                <a:cs typeface="Times New Roman" panose="02020603050405020304" pitchFamily="18" charset="0"/>
              </a:rPr>
              <a:t>AES (Advanced Encryption Standard)</a:t>
            </a:r>
            <a:endParaRPr lang="en-US"/>
          </a:p>
        </p:txBody>
      </p:sp>
      <p:sp>
        <p:nvSpPr>
          <p:cNvPr id="3" name="Content Placeholder 2"/>
          <p:cNvSpPr>
            <a:spLocks noGrp="1"/>
          </p:cNvSpPr>
          <p:nvPr>
            <p:ph idx="1"/>
          </p:nvPr>
        </p:nvSpPr>
        <p:spPr/>
        <p:txBody>
          <a:bodyPr/>
          <a:lstStyle/>
          <a:p>
            <a:r>
              <a:rPr lang="en-US" dirty="0"/>
              <a:t>Each round consists of several processing steps, including one that depends on the encryption key itself</a:t>
            </a:r>
            <a:r>
              <a:rPr lang="en-US" dirty="0" smtClean="0"/>
              <a:t>.</a:t>
            </a:r>
          </a:p>
          <a:p>
            <a:r>
              <a:rPr lang="en-US" dirty="0" smtClean="0"/>
              <a:t> </a:t>
            </a:r>
            <a:r>
              <a:rPr lang="en-US" dirty="0"/>
              <a:t>A set of reverse rounds are applied to transform </a:t>
            </a:r>
            <a:r>
              <a:rPr lang="en-US" dirty="0" smtClean="0"/>
              <a:t>cipher-text </a:t>
            </a:r>
            <a:r>
              <a:rPr lang="en-US" dirty="0"/>
              <a:t>back into the original plaintext using the same encryption key.</a:t>
            </a:r>
            <a:endParaRPr lang="en-US" b="1" dirty="0" smtClean="0"/>
          </a:p>
          <a:p>
            <a:endParaRPr lang="en-US" dirty="0" smtClean="0"/>
          </a:p>
          <a:p>
            <a:endParaRPr lang="en-US" dirty="0" smtClean="0"/>
          </a:p>
          <a:p>
            <a:pPr marL="0" indent="0">
              <a:buNone/>
            </a:pPr>
            <a:r>
              <a:rPr lang="en-US" dirty="0" smtClean="0"/>
              <a:t> </a:t>
            </a:r>
          </a:p>
          <a:p>
            <a:endParaRPr lang="en-US" dirty="0"/>
          </a:p>
        </p:txBody>
      </p:sp>
    </p:spTree>
    <p:extLst>
      <p:ext uri="{BB962C8B-B14F-4D97-AF65-F5344CB8AC3E}">
        <p14:creationId xmlns:p14="http://schemas.microsoft.com/office/powerpoint/2010/main" val="2177807910"/>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latin typeface="Times New Roman" panose="02020603050405020304" pitchFamily="18" charset="0"/>
                <a:cs typeface="Times New Roman" panose="02020603050405020304" pitchFamily="18" charset="0"/>
              </a:rPr>
              <a:t>AES (Advanced Encryption Standard)</a:t>
            </a:r>
            <a:endParaRPr lang="en-US" dirty="0"/>
          </a:p>
        </p:txBody>
      </p:sp>
      <p:sp>
        <p:nvSpPr>
          <p:cNvPr id="3" name="Content Placeholder 2"/>
          <p:cNvSpPr>
            <a:spLocks noGrp="1"/>
          </p:cNvSpPr>
          <p:nvPr>
            <p:ph idx="1"/>
          </p:nvPr>
        </p:nvSpPr>
        <p:spPr/>
        <p:txBody>
          <a:bodyPr/>
          <a:lstStyle/>
          <a:p>
            <a:r>
              <a:rPr lang="en-US" dirty="0"/>
              <a:t>The more popular and widely adopted symmetric encryption algorithm likely to be encountered nowadays is the Advanced Encryption Standard (AES). It is found at least six time faster than triple DES.</a:t>
            </a:r>
          </a:p>
          <a:p>
            <a:r>
              <a:rPr lang="en-US" dirty="0"/>
              <a:t>A replacement for DES was needed as its key size was too small. With increasing computing power, it was considered vulnerable against exhaustive key search attack. Triple DES was designed to overcome this drawback but it was found slow.</a:t>
            </a:r>
          </a:p>
          <a:p>
            <a:pPr marL="0" indent="0">
              <a:buNone/>
            </a:pPr>
            <a:endParaRPr lang="en-US" dirty="0"/>
          </a:p>
        </p:txBody>
      </p:sp>
    </p:spTree>
    <p:extLst>
      <p:ext uri="{BB962C8B-B14F-4D97-AF65-F5344CB8AC3E}">
        <p14:creationId xmlns:p14="http://schemas.microsoft.com/office/powerpoint/2010/main" val="3637927104"/>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latin typeface="Times New Roman" panose="02020603050405020304" pitchFamily="18" charset="0"/>
                <a:cs typeface="Times New Roman" panose="02020603050405020304" pitchFamily="18" charset="0"/>
              </a:rPr>
              <a:t>AES (Advanced Encryption Standard)</a:t>
            </a:r>
            <a:endParaRPr lang="en-US" dirty="0"/>
          </a:p>
        </p:txBody>
      </p:sp>
      <p:sp>
        <p:nvSpPr>
          <p:cNvPr id="3" name="Content Placeholder 2"/>
          <p:cNvSpPr>
            <a:spLocks noGrp="1"/>
          </p:cNvSpPr>
          <p:nvPr>
            <p:ph idx="1"/>
          </p:nvPr>
        </p:nvSpPr>
        <p:spPr/>
        <p:txBody>
          <a:bodyPr/>
          <a:lstStyle/>
          <a:p>
            <a:r>
              <a:rPr lang="en-US" dirty="0"/>
              <a:t>The features of AES are as follows −</a:t>
            </a:r>
          </a:p>
          <a:p>
            <a:r>
              <a:rPr lang="en-US" dirty="0"/>
              <a:t>Symmetric key symmetric block cipher</a:t>
            </a:r>
          </a:p>
          <a:p>
            <a:r>
              <a:rPr lang="en-US" dirty="0"/>
              <a:t>128-bit data, 128/192/256-bit keys</a:t>
            </a:r>
          </a:p>
          <a:p>
            <a:r>
              <a:rPr lang="en-US" dirty="0"/>
              <a:t>Stronger and faster than Triple-DES</a:t>
            </a:r>
          </a:p>
          <a:p>
            <a:r>
              <a:rPr lang="en-US" dirty="0"/>
              <a:t>Provide full specification and design details</a:t>
            </a:r>
          </a:p>
          <a:p>
            <a:r>
              <a:rPr lang="en-US" dirty="0"/>
              <a:t>Software implementable in C and Java</a:t>
            </a:r>
          </a:p>
          <a:p>
            <a:pPr marL="0" indent="0">
              <a:buNone/>
            </a:pPr>
            <a:endParaRPr lang="en-US" dirty="0"/>
          </a:p>
        </p:txBody>
      </p:sp>
    </p:spTree>
    <p:extLst>
      <p:ext uri="{BB962C8B-B14F-4D97-AF65-F5344CB8AC3E}">
        <p14:creationId xmlns:p14="http://schemas.microsoft.com/office/powerpoint/2010/main" val="1529036625"/>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latin typeface="Times New Roman" panose="02020603050405020304" pitchFamily="18" charset="0"/>
                <a:cs typeface="Times New Roman" panose="02020603050405020304" pitchFamily="18" charset="0"/>
              </a:rPr>
              <a:t>AES (Advanced Encryption Standard)</a:t>
            </a:r>
            <a:endParaRPr lang="en-US" dirty="0"/>
          </a:p>
        </p:txBody>
      </p:sp>
      <p:sp>
        <p:nvSpPr>
          <p:cNvPr id="3" name="Content Placeholder 2"/>
          <p:cNvSpPr>
            <a:spLocks noGrp="1"/>
          </p:cNvSpPr>
          <p:nvPr>
            <p:ph idx="1"/>
          </p:nvPr>
        </p:nvSpPr>
        <p:spPr/>
        <p:txBody>
          <a:bodyPr/>
          <a:lstStyle/>
          <a:p>
            <a:r>
              <a:rPr lang="en-US" b="1" dirty="0"/>
              <a:t>Operation of </a:t>
            </a:r>
            <a:r>
              <a:rPr lang="en-US" b="1" dirty="0" smtClean="0"/>
              <a:t>AES:</a:t>
            </a:r>
            <a:endParaRPr lang="en-US" b="1" dirty="0"/>
          </a:p>
          <a:p>
            <a:r>
              <a:rPr lang="en-US" dirty="0"/>
              <a:t>AES is an iterative rather than </a:t>
            </a:r>
            <a:r>
              <a:rPr lang="en-US" dirty="0" err="1"/>
              <a:t>Feistel</a:t>
            </a:r>
            <a:r>
              <a:rPr lang="en-US" dirty="0"/>
              <a:t> cipher. It is based on ‘substitution–permutation network’. It comprises of a series of linked operations, some of which involve replacing inputs by specific outputs (substitutions) and others involve shuffling bits around (permutations).</a:t>
            </a:r>
          </a:p>
          <a:p>
            <a:r>
              <a:rPr lang="en-US" dirty="0"/>
              <a:t>Interestingly, AES performs all its computations on bytes rather than bits. Hence, AES treats the 128 bits of a plaintext block as 16 bytes. These 16 bytes are arranged in four columns and four rows for processing as a </a:t>
            </a:r>
            <a:r>
              <a:rPr lang="en-US" dirty="0" smtClean="0"/>
              <a:t>matrix.</a:t>
            </a:r>
            <a:endParaRPr lang="en-US" dirty="0"/>
          </a:p>
          <a:p>
            <a:endParaRPr lang="en-US" dirty="0"/>
          </a:p>
        </p:txBody>
      </p:sp>
    </p:spTree>
    <p:extLst>
      <p:ext uri="{BB962C8B-B14F-4D97-AF65-F5344CB8AC3E}">
        <p14:creationId xmlns:p14="http://schemas.microsoft.com/office/powerpoint/2010/main" val="2015708887"/>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latin typeface="Times New Roman" panose="02020603050405020304" pitchFamily="18" charset="0"/>
                <a:cs typeface="Times New Roman" panose="02020603050405020304" pitchFamily="18" charset="0"/>
              </a:rPr>
              <a:t>AES (Advanced Encryption Standard)</a:t>
            </a:r>
            <a:endParaRPr lang="en-US" dirty="0"/>
          </a:p>
        </p:txBody>
      </p:sp>
      <p:sp>
        <p:nvSpPr>
          <p:cNvPr id="3" name="Content Placeholder 2"/>
          <p:cNvSpPr>
            <a:spLocks noGrp="1"/>
          </p:cNvSpPr>
          <p:nvPr>
            <p:ph idx="1"/>
          </p:nvPr>
        </p:nvSpPr>
        <p:spPr/>
        <p:txBody>
          <a:bodyPr/>
          <a:lstStyle/>
          <a:p>
            <a:r>
              <a:rPr lang="en-US" dirty="0"/>
              <a:t>Unlike DES, the number of rounds in AES is variable and depends on the length of the key</a:t>
            </a:r>
            <a:r>
              <a:rPr lang="en-US" dirty="0" smtClean="0"/>
              <a:t>.</a:t>
            </a:r>
          </a:p>
          <a:p>
            <a:r>
              <a:rPr lang="en-US" dirty="0" smtClean="0"/>
              <a:t> </a:t>
            </a:r>
            <a:r>
              <a:rPr lang="en-US" dirty="0"/>
              <a:t>AES uses 10 rounds for 128-bit keys, 12 rounds for 192-bit keys and 14 rounds for 256-bit keys</a:t>
            </a:r>
            <a:r>
              <a:rPr lang="en-US" dirty="0" smtClean="0"/>
              <a:t>.</a:t>
            </a:r>
          </a:p>
          <a:p>
            <a:r>
              <a:rPr lang="en-US" dirty="0" smtClean="0"/>
              <a:t> </a:t>
            </a:r>
            <a:r>
              <a:rPr lang="en-US" dirty="0"/>
              <a:t>Each of these rounds uses a different 128-bit round key, which is calculated from the original AES key.</a:t>
            </a:r>
          </a:p>
        </p:txBody>
      </p:sp>
    </p:spTree>
    <p:extLst>
      <p:ext uri="{BB962C8B-B14F-4D97-AF65-F5344CB8AC3E}">
        <p14:creationId xmlns:p14="http://schemas.microsoft.com/office/powerpoint/2010/main" val="678002730"/>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latin typeface="Times New Roman" panose="02020603050405020304" pitchFamily="18" charset="0"/>
                <a:cs typeface="Times New Roman" panose="02020603050405020304" pitchFamily="18" charset="0"/>
              </a:rPr>
              <a:t>AES (Advanced Encryption Standard)</a:t>
            </a:r>
            <a:endParaRPr lang="en-US" dirty="0"/>
          </a:p>
        </p:txBody>
      </p:sp>
      <p:pic>
        <p:nvPicPr>
          <p:cNvPr id="4" name="Content Placeholder 3"/>
          <p:cNvPicPr>
            <a:picLocks noGrp="1" noChangeAspect="1"/>
          </p:cNvPicPr>
          <p:nvPr>
            <p:ph idx="1"/>
          </p:nvPr>
        </p:nvPicPr>
        <p:blipFill>
          <a:blip r:embed="rId2"/>
          <a:stretch>
            <a:fillRect/>
          </a:stretch>
        </p:blipFill>
        <p:spPr>
          <a:xfrm>
            <a:off x="838200" y="1690688"/>
            <a:ext cx="8139113" cy="4325143"/>
          </a:xfrm>
          <a:prstGeom prst="rect">
            <a:avLst/>
          </a:prstGeom>
        </p:spPr>
      </p:pic>
    </p:spTree>
    <p:extLst>
      <p:ext uri="{BB962C8B-B14F-4D97-AF65-F5344CB8AC3E}">
        <p14:creationId xmlns:p14="http://schemas.microsoft.com/office/powerpoint/2010/main" val="2802754090"/>
      </p:ext>
    </p:extLst>
  </p:cSld>
  <p:clrMapOvr>
    <a:masterClrMapping/>
  </p:clrMapOvr>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latin typeface="Times New Roman" panose="02020603050405020304" pitchFamily="18" charset="0"/>
                <a:cs typeface="Times New Roman" panose="02020603050405020304" pitchFamily="18" charset="0"/>
              </a:rPr>
              <a:t>AES (Advanced Encryption Standard)</a:t>
            </a:r>
            <a:endParaRPr lang="en-US" dirty="0"/>
          </a:p>
        </p:txBody>
      </p:sp>
      <p:sp>
        <p:nvSpPr>
          <p:cNvPr id="3" name="Content Placeholder 2"/>
          <p:cNvSpPr>
            <a:spLocks noGrp="1"/>
          </p:cNvSpPr>
          <p:nvPr>
            <p:ph idx="1"/>
          </p:nvPr>
        </p:nvSpPr>
        <p:spPr/>
        <p:txBody>
          <a:bodyPr/>
          <a:lstStyle/>
          <a:p>
            <a:r>
              <a:rPr lang="en-US" b="1" dirty="0"/>
              <a:t>Encryption Process</a:t>
            </a:r>
          </a:p>
          <a:p>
            <a:r>
              <a:rPr lang="en-US" dirty="0"/>
              <a:t>Here, we restrict to description of a typical round of AES encryption. Each round comprise of four sub-processes. The first round process is depicted </a:t>
            </a:r>
            <a:r>
              <a:rPr lang="en-US" dirty="0" smtClean="0"/>
              <a:t>below:</a:t>
            </a:r>
            <a:endParaRPr lang="en-US" dirty="0"/>
          </a:p>
          <a:p>
            <a:endParaRPr lang="en-US" dirty="0"/>
          </a:p>
        </p:txBody>
      </p:sp>
      <p:pic>
        <p:nvPicPr>
          <p:cNvPr id="4" name="Picture 3"/>
          <p:cNvPicPr>
            <a:picLocks noChangeAspect="1"/>
          </p:cNvPicPr>
          <p:nvPr/>
        </p:nvPicPr>
        <p:blipFill>
          <a:blip r:embed="rId2"/>
          <a:stretch>
            <a:fillRect/>
          </a:stretch>
        </p:blipFill>
        <p:spPr>
          <a:xfrm>
            <a:off x="3829050" y="3200400"/>
            <a:ext cx="6600825" cy="3657600"/>
          </a:xfrm>
          <a:prstGeom prst="rect">
            <a:avLst/>
          </a:prstGeom>
        </p:spPr>
      </p:pic>
    </p:spTree>
    <p:extLst>
      <p:ext uri="{BB962C8B-B14F-4D97-AF65-F5344CB8AC3E}">
        <p14:creationId xmlns:p14="http://schemas.microsoft.com/office/powerpoint/2010/main" val="3780128257"/>
      </p:ext>
    </p:extLst>
  </p:cSld>
  <p:clrMapOvr>
    <a:masterClrMapping/>
  </p:clrMapOvr>
  <p:timing>
    <p:tnLst>
      <p:par>
        <p:cT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latin typeface="Times New Roman" panose="02020603050405020304" pitchFamily="18" charset="0"/>
                <a:cs typeface="Times New Roman" panose="02020603050405020304" pitchFamily="18" charset="0"/>
              </a:rPr>
              <a:t>AES (Advanced Encryption Standard)</a:t>
            </a:r>
            <a:endParaRPr lang="en-US" dirty="0"/>
          </a:p>
        </p:txBody>
      </p:sp>
      <p:sp>
        <p:nvSpPr>
          <p:cNvPr id="3" name="Content Placeholder 2"/>
          <p:cNvSpPr>
            <a:spLocks noGrp="1"/>
          </p:cNvSpPr>
          <p:nvPr>
            <p:ph idx="1"/>
          </p:nvPr>
        </p:nvSpPr>
        <p:spPr/>
        <p:txBody>
          <a:bodyPr/>
          <a:lstStyle/>
          <a:p>
            <a:r>
              <a:rPr lang="en-US" b="1" dirty="0"/>
              <a:t>Byte Substitution (</a:t>
            </a:r>
            <a:r>
              <a:rPr lang="en-US" b="1" dirty="0" err="1"/>
              <a:t>SubBytes</a:t>
            </a:r>
            <a:r>
              <a:rPr lang="en-US" b="1" dirty="0" smtClean="0"/>
              <a:t>):</a:t>
            </a:r>
            <a:endParaRPr lang="en-US" b="1" dirty="0"/>
          </a:p>
          <a:p>
            <a:r>
              <a:rPr lang="en-US" dirty="0"/>
              <a:t>The 16 input bytes are substituted by looking up a fixed table (S-box) given in design. The result is in a matrix of four rows and four columns.</a:t>
            </a:r>
          </a:p>
          <a:p>
            <a:r>
              <a:rPr lang="en-US" b="1" dirty="0" err="1" smtClean="0"/>
              <a:t>Shiftrows</a:t>
            </a:r>
            <a:r>
              <a:rPr lang="en-US" b="1" dirty="0" smtClean="0"/>
              <a:t>:</a:t>
            </a:r>
            <a:endParaRPr lang="en-US" b="1" dirty="0"/>
          </a:p>
          <a:p>
            <a:r>
              <a:rPr lang="en-US" dirty="0"/>
              <a:t>Each of the four rows of the matrix is shifted to the left. Any entries that ‘fall off’ are re-inserted on the right side of row. Shift is carried out as </a:t>
            </a:r>
            <a:r>
              <a:rPr lang="en-US" dirty="0" smtClean="0"/>
              <a:t>follows:</a:t>
            </a:r>
            <a:endParaRPr lang="en-US" dirty="0"/>
          </a:p>
          <a:p>
            <a:endParaRPr lang="en-US" dirty="0"/>
          </a:p>
        </p:txBody>
      </p:sp>
    </p:spTree>
    <p:extLst>
      <p:ext uri="{BB962C8B-B14F-4D97-AF65-F5344CB8AC3E}">
        <p14:creationId xmlns:p14="http://schemas.microsoft.com/office/powerpoint/2010/main" val="3353092497"/>
      </p:ext>
    </p:extLst>
  </p:cSld>
  <p:clrMapOvr>
    <a:masterClrMapping/>
  </p:clrMapOvr>
  <p:timing>
    <p:tnLst>
      <p:par>
        <p:cTn id="1" dur="indefinite" restart="never" nodeType="tmRoot"/>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latin typeface="Times New Roman" panose="02020603050405020304" pitchFamily="18" charset="0"/>
                <a:cs typeface="Times New Roman" panose="02020603050405020304" pitchFamily="18" charset="0"/>
              </a:rPr>
              <a:t>AES (Advanced Encryption Standard)</a:t>
            </a:r>
            <a:endParaRPr lang="en-US" dirty="0"/>
          </a:p>
        </p:txBody>
      </p:sp>
      <p:sp>
        <p:nvSpPr>
          <p:cNvPr id="3" name="Content Placeholder 2"/>
          <p:cNvSpPr>
            <a:spLocks noGrp="1"/>
          </p:cNvSpPr>
          <p:nvPr>
            <p:ph idx="1"/>
          </p:nvPr>
        </p:nvSpPr>
        <p:spPr/>
        <p:txBody>
          <a:bodyPr/>
          <a:lstStyle/>
          <a:p>
            <a:r>
              <a:rPr lang="en-US" dirty="0"/>
              <a:t>First row is not shifted.</a:t>
            </a:r>
          </a:p>
          <a:p>
            <a:r>
              <a:rPr lang="en-US" dirty="0"/>
              <a:t>Second row is shifted one (byte) position to the left.</a:t>
            </a:r>
          </a:p>
          <a:p>
            <a:r>
              <a:rPr lang="en-US" dirty="0"/>
              <a:t>Third row is shifted two positions to the left.</a:t>
            </a:r>
          </a:p>
          <a:p>
            <a:r>
              <a:rPr lang="en-US" dirty="0"/>
              <a:t>Fourth row is shifted three positions to the left.</a:t>
            </a:r>
          </a:p>
          <a:p>
            <a:r>
              <a:rPr lang="en-US" dirty="0"/>
              <a:t>The result is a new matrix consisting of the same 16 bytes but shifted with respect to each other.</a:t>
            </a:r>
          </a:p>
          <a:p>
            <a:pPr marL="0" indent="0">
              <a:buNone/>
            </a:pPr>
            <a:endParaRPr lang="en-US" dirty="0"/>
          </a:p>
        </p:txBody>
      </p:sp>
    </p:spTree>
    <p:extLst>
      <p:ext uri="{BB962C8B-B14F-4D97-AF65-F5344CB8AC3E}">
        <p14:creationId xmlns:p14="http://schemas.microsoft.com/office/powerpoint/2010/main" val="465474240"/>
      </p:ext>
    </p:extLst>
  </p:cSld>
  <p:clrMapOvr>
    <a:masterClrMapping/>
  </p:clrMapOvr>
  <p:timing>
    <p:tnLst>
      <p:par>
        <p:cTn id="1" dur="indefinite" restart="never" nodeType="tmRoot"/>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latin typeface="Times New Roman" panose="02020603050405020304" pitchFamily="18" charset="0"/>
                <a:cs typeface="Times New Roman" panose="02020603050405020304" pitchFamily="18" charset="0"/>
              </a:rPr>
              <a:t>AES (Advanced Encryption Standard)</a:t>
            </a:r>
            <a:endParaRPr lang="en-US" dirty="0"/>
          </a:p>
        </p:txBody>
      </p:sp>
      <p:sp>
        <p:nvSpPr>
          <p:cNvPr id="3" name="Content Placeholder 2"/>
          <p:cNvSpPr>
            <a:spLocks noGrp="1"/>
          </p:cNvSpPr>
          <p:nvPr>
            <p:ph idx="1"/>
          </p:nvPr>
        </p:nvSpPr>
        <p:spPr/>
        <p:txBody>
          <a:bodyPr/>
          <a:lstStyle/>
          <a:p>
            <a:r>
              <a:rPr lang="en-US" b="1" dirty="0" smtClean="0"/>
              <a:t>Mix Columns</a:t>
            </a:r>
            <a:r>
              <a:rPr lang="en-US" b="1" dirty="0" smtClean="0"/>
              <a:t>:</a:t>
            </a:r>
            <a:endParaRPr lang="en-US" b="1" dirty="0"/>
          </a:p>
          <a:p>
            <a:r>
              <a:rPr lang="en-US" dirty="0"/>
              <a:t>Each column of four bytes is now transformed using a special mathematical function. </a:t>
            </a:r>
            <a:endParaRPr lang="en-US" dirty="0" smtClean="0"/>
          </a:p>
          <a:p>
            <a:r>
              <a:rPr lang="en-US" dirty="0" smtClean="0"/>
              <a:t>This </a:t>
            </a:r>
            <a:r>
              <a:rPr lang="en-US" dirty="0"/>
              <a:t>function takes as input the four bytes of one column and outputs four completely new bytes, which replace the original column. </a:t>
            </a:r>
            <a:endParaRPr lang="en-US" dirty="0" smtClean="0"/>
          </a:p>
          <a:p>
            <a:r>
              <a:rPr lang="en-US" dirty="0" smtClean="0"/>
              <a:t>The </a:t>
            </a:r>
            <a:r>
              <a:rPr lang="en-US" dirty="0"/>
              <a:t>result is another new matrix consisting of 16 new bytes. </a:t>
            </a:r>
            <a:endParaRPr lang="en-US" dirty="0" smtClean="0"/>
          </a:p>
          <a:p>
            <a:r>
              <a:rPr lang="en-US" dirty="0" smtClean="0"/>
              <a:t>It </a:t>
            </a:r>
            <a:r>
              <a:rPr lang="en-US" dirty="0"/>
              <a:t>should be noted that this step is not performed in the last round.</a:t>
            </a:r>
          </a:p>
          <a:p>
            <a:endParaRPr lang="en-US" dirty="0"/>
          </a:p>
        </p:txBody>
      </p:sp>
    </p:spTree>
    <p:extLst>
      <p:ext uri="{BB962C8B-B14F-4D97-AF65-F5344CB8AC3E}">
        <p14:creationId xmlns:p14="http://schemas.microsoft.com/office/powerpoint/2010/main" val="348125601"/>
      </p:ext>
    </p:extLst>
  </p:cSld>
  <p:clrMapOvr>
    <a:masterClrMapping/>
  </p:clrMapOvr>
  <p:timing>
    <p:tnLst>
      <p:par>
        <p:cTn id="1" dur="indefinite" restart="never" nodeType="tmRoot"/>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latin typeface="Times New Roman" panose="02020603050405020304" pitchFamily="18" charset="0"/>
                <a:cs typeface="Times New Roman" panose="02020603050405020304" pitchFamily="18" charset="0"/>
              </a:rPr>
              <a:t>AES (Advanced Encryption Standard)</a:t>
            </a:r>
            <a:endParaRPr lang="en-US" dirty="0"/>
          </a:p>
        </p:txBody>
      </p:sp>
      <p:sp>
        <p:nvSpPr>
          <p:cNvPr id="3" name="Content Placeholder 2"/>
          <p:cNvSpPr>
            <a:spLocks noGrp="1"/>
          </p:cNvSpPr>
          <p:nvPr>
            <p:ph idx="1"/>
          </p:nvPr>
        </p:nvSpPr>
        <p:spPr/>
        <p:txBody>
          <a:bodyPr/>
          <a:lstStyle/>
          <a:p>
            <a:r>
              <a:rPr lang="en-US" b="1" dirty="0" smtClean="0"/>
              <a:t>Add </a:t>
            </a:r>
            <a:r>
              <a:rPr lang="en-US" b="1" dirty="0" smtClean="0"/>
              <a:t>round key</a:t>
            </a:r>
            <a:r>
              <a:rPr lang="en-US" b="1" dirty="0" smtClean="0"/>
              <a:t>:</a:t>
            </a:r>
            <a:endParaRPr lang="en-US" b="1" dirty="0"/>
          </a:p>
          <a:p>
            <a:r>
              <a:rPr lang="en-US" dirty="0"/>
              <a:t>The 16 bytes of the matrix are now considered as 128 bits and are </a:t>
            </a:r>
            <a:r>
              <a:rPr lang="en-US" dirty="0" smtClean="0"/>
              <a:t>XOR </a:t>
            </a:r>
            <a:r>
              <a:rPr lang="en-US" dirty="0"/>
              <a:t>to the 128 bits of the round key. </a:t>
            </a:r>
            <a:endParaRPr lang="en-US" dirty="0" smtClean="0"/>
          </a:p>
          <a:p>
            <a:r>
              <a:rPr lang="en-US" dirty="0" smtClean="0"/>
              <a:t>If </a:t>
            </a:r>
            <a:r>
              <a:rPr lang="en-US" dirty="0"/>
              <a:t>this is the last round then the output is the </a:t>
            </a:r>
            <a:r>
              <a:rPr lang="en-US" dirty="0" smtClean="0"/>
              <a:t>cipher-text</a:t>
            </a:r>
            <a:r>
              <a:rPr lang="en-US" dirty="0"/>
              <a:t>. Otherwise, the resulting 128 bits are interpreted as 16 bytes and we begin another similar round.</a:t>
            </a:r>
          </a:p>
          <a:p>
            <a:endParaRPr lang="en-US" dirty="0"/>
          </a:p>
        </p:txBody>
      </p:sp>
    </p:spTree>
    <p:extLst>
      <p:ext uri="{BB962C8B-B14F-4D97-AF65-F5344CB8AC3E}">
        <p14:creationId xmlns:p14="http://schemas.microsoft.com/office/powerpoint/2010/main" val="3357218724"/>
      </p:ext>
    </p:extLst>
  </p:cSld>
  <p:clrMapOvr>
    <a:masterClrMapping/>
  </p:clrMapOvr>
  <p:timing>
    <p:tnLst>
      <p:par>
        <p:cTn id="1" dur="indefinite" restart="never" nodeType="tmRoot"/>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latin typeface="Times New Roman" panose="02020603050405020304" pitchFamily="18" charset="0"/>
                <a:cs typeface="Times New Roman" panose="02020603050405020304" pitchFamily="18" charset="0"/>
              </a:rPr>
              <a:t>AES (Advanced Encryption Standard)</a:t>
            </a:r>
            <a:endParaRPr lang="en-US" dirty="0"/>
          </a:p>
        </p:txBody>
      </p:sp>
      <p:sp>
        <p:nvSpPr>
          <p:cNvPr id="3" name="Content Placeholder 2"/>
          <p:cNvSpPr>
            <a:spLocks noGrp="1"/>
          </p:cNvSpPr>
          <p:nvPr>
            <p:ph idx="1"/>
          </p:nvPr>
        </p:nvSpPr>
        <p:spPr/>
        <p:txBody>
          <a:bodyPr/>
          <a:lstStyle/>
          <a:p>
            <a:r>
              <a:rPr lang="en-US" b="1" dirty="0"/>
              <a:t>Decryption </a:t>
            </a:r>
            <a:r>
              <a:rPr lang="en-US" b="1" dirty="0" smtClean="0"/>
              <a:t>Process:</a:t>
            </a:r>
            <a:endParaRPr lang="en-US" b="1" dirty="0"/>
          </a:p>
          <a:p>
            <a:r>
              <a:rPr lang="en-US" dirty="0"/>
              <a:t>The process of decryption of an AES </a:t>
            </a:r>
            <a:r>
              <a:rPr lang="en-US" dirty="0" smtClean="0"/>
              <a:t>cipher-text </a:t>
            </a:r>
            <a:r>
              <a:rPr lang="en-US" dirty="0"/>
              <a:t>is similar to the encryption process in the reverse order. Each round consists of the four processes conducted in the reverse </a:t>
            </a:r>
            <a:r>
              <a:rPr lang="en-US" dirty="0" smtClean="0"/>
              <a:t>order:</a:t>
            </a:r>
          </a:p>
          <a:p>
            <a:r>
              <a:rPr lang="en-US" dirty="0"/>
              <a:t>Add round key</a:t>
            </a:r>
          </a:p>
          <a:p>
            <a:r>
              <a:rPr lang="en-US" dirty="0"/>
              <a:t>Mix columns</a:t>
            </a:r>
          </a:p>
          <a:p>
            <a:r>
              <a:rPr lang="en-US" dirty="0"/>
              <a:t>Shift rows</a:t>
            </a:r>
          </a:p>
          <a:p>
            <a:r>
              <a:rPr lang="en-US" dirty="0"/>
              <a:t>Byte substitution</a:t>
            </a:r>
          </a:p>
          <a:p>
            <a:endParaRPr lang="en-US" dirty="0"/>
          </a:p>
          <a:p>
            <a:endParaRPr lang="en-US" dirty="0"/>
          </a:p>
        </p:txBody>
      </p:sp>
    </p:spTree>
    <p:extLst>
      <p:ext uri="{BB962C8B-B14F-4D97-AF65-F5344CB8AC3E}">
        <p14:creationId xmlns:p14="http://schemas.microsoft.com/office/powerpoint/2010/main" val="554829105"/>
      </p:ext>
    </p:extLst>
  </p:cSld>
  <p:clrMapOvr>
    <a:masterClrMapping/>
  </p:clrMapOvr>
  <p:timing>
    <p:tnLst>
      <p:par>
        <p:cTn id="1" dur="indefinite" restart="never" nodeType="tmRoot"/>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latin typeface="Times New Roman" panose="02020603050405020304" pitchFamily="18" charset="0"/>
                <a:cs typeface="Times New Roman" panose="02020603050405020304" pitchFamily="18" charset="0"/>
              </a:rPr>
              <a:t>AES (Advanced Encryption Standard)</a:t>
            </a:r>
            <a:endParaRPr lang="en-US" dirty="0"/>
          </a:p>
        </p:txBody>
      </p:sp>
      <p:sp>
        <p:nvSpPr>
          <p:cNvPr id="3" name="Content Placeholder 2"/>
          <p:cNvSpPr>
            <a:spLocks noGrp="1"/>
          </p:cNvSpPr>
          <p:nvPr>
            <p:ph idx="1"/>
          </p:nvPr>
        </p:nvSpPr>
        <p:spPr/>
        <p:txBody>
          <a:bodyPr/>
          <a:lstStyle/>
          <a:p>
            <a:r>
              <a:rPr lang="en-US" dirty="0"/>
              <a:t>Since sub-processes in each round are in reverse manner, unlike for a </a:t>
            </a:r>
            <a:r>
              <a:rPr lang="en-US" dirty="0" err="1"/>
              <a:t>Feistel</a:t>
            </a:r>
            <a:r>
              <a:rPr lang="en-US" dirty="0"/>
              <a:t> Cipher, the encryption and decryption algorithms needs to be separately implemented, although they are very closely related</a:t>
            </a:r>
            <a:r>
              <a:rPr lang="en-US" dirty="0" smtClean="0"/>
              <a:t>.</a:t>
            </a:r>
          </a:p>
          <a:p>
            <a:r>
              <a:rPr lang="en-US" b="1" dirty="0"/>
              <a:t>AES Analysis:</a:t>
            </a:r>
          </a:p>
          <a:p>
            <a:r>
              <a:rPr lang="en-US" dirty="0"/>
              <a:t>In present day cryptography, AES is widely adopted and supported in both hardware and software.</a:t>
            </a:r>
          </a:p>
        </p:txBody>
      </p:sp>
    </p:spTree>
    <p:extLst>
      <p:ext uri="{BB962C8B-B14F-4D97-AF65-F5344CB8AC3E}">
        <p14:creationId xmlns:p14="http://schemas.microsoft.com/office/powerpoint/2010/main" val="3745150051"/>
      </p:ext>
    </p:extLst>
  </p:cSld>
  <p:clrMapOvr>
    <a:masterClrMapping/>
  </p:clrMapOvr>
  <p:timing>
    <p:tnLst>
      <p:par>
        <p:cTn id="1" dur="indefinite" restart="never" nodeType="tmRoot"/>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latin typeface="Times New Roman" panose="02020603050405020304" pitchFamily="18" charset="0"/>
                <a:cs typeface="Times New Roman" panose="02020603050405020304" pitchFamily="18" charset="0"/>
              </a:rPr>
              <a:t>AES (Advanced Encryption Standard)</a:t>
            </a:r>
            <a:endParaRPr lang="en-US" dirty="0"/>
          </a:p>
        </p:txBody>
      </p:sp>
      <p:sp>
        <p:nvSpPr>
          <p:cNvPr id="3" name="Content Placeholder 2"/>
          <p:cNvSpPr>
            <a:spLocks noGrp="1"/>
          </p:cNvSpPr>
          <p:nvPr>
            <p:ph idx="1"/>
          </p:nvPr>
        </p:nvSpPr>
        <p:spPr/>
        <p:txBody>
          <a:bodyPr/>
          <a:lstStyle/>
          <a:p>
            <a:r>
              <a:rPr lang="en-US" dirty="0" smtClean="0"/>
              <a:t>Till </a:t>
            </a:r>
            <a:r>
              <a:rPr lang="en-US" dirty="0"/>
              <a:t>date, no practical cryptanalytic attacks against AES has been discovered. </a:t>
            </a:r>
            <a:endParaRPr lang="en-US" dirty="0" smtClean="0"/>
          </a:p>
          <a:p>
            <a:r>
              <a:rPr lang="en-US" dirty="0" smtClean="0"/>
              <a:t>Additionally</a:t>
            </a:r>
            <a:r>
              <a:rPr lang="en-US" dirty="0"/>
              <a:t>, AES has built-in flexibility of key length, which allows a degree of ‘future-proofing’ against progress in the ability to perform exhaustive key searches.</a:t>
            </a:r>
          </a:p>
          <a:p>
            <a:r>
              <a:rPr lang="en-US" dirty="0"/>
              <a:t>However, just as for DES, the AES security is assured only if it is correctly implemented and good key management is employed.</a:t>
            </a:r>
          </a:p>
          <a:p>
            <a:endParaRPr lang="en-US" dirty="0"/>
          </a:p>
        </p:txBody>
      </p:sp>
    </p:spTree>
    <p:extLst>
      <p:ext uri="{BB962C8B-B14F-4D97-AF65-F5344CB8AC3E}">
        <p14:creationId xmlns:p14="http://schemas.microsoft.com/office/powerpoint/2010/main" val="2228597052"/>
      </p:ext>
    </p:extLst>
  </p:cSld>
  <p:clrMapOvr>
    <a:masterClrMapping/>
  </p:clrMapOvr>
  <p:timing>
    <p:tnLst>
      <p:par>
        <p:cTn id="1" dur="indefinite" restart="never" nodeType="tmRoot"/>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latin typeface="Times New Roman" panose="02020603050405020304" pitchFamily="18" charset="0"/>
                <a:cs typeface="Times New Roman" panose="02020603050405020304" pitchFamily="18" charset="0"/>
              </a:rPr>
              <a:t>AES (Advanced Encryption Standard)</a:t>
            </a:r>
            <a:endParaRPr lang="en-US" dirty="0"/>
          </a:p>
        </p:txBody>
      </p:sp>
      <p:pic>
        <p:nvPicPr>
          <p:cNvPr id="5" name="Content Placeholder 4"/>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200025" y="1690688"/>
            <a:ext cx="11153775" cy="5167311"/>
          </a:xfrm>
        </p:spPr>
      </p:pic>
    </p:spTree>
    <p:extLst>
      <p:ext uri="{BB962C8B-B14F-4D97-AF65-F5344CB8AC3E}">
        <p14:creationId xmlns:p14="http://schemas.microsoft.com/office/powerpoint/2010/main" val="1298473360"/>
      </p:ext>
    </p:extLst>
  </p:cSld>
  <p:clrMapOvr>
    <a:masterClrMapping/>
  </p:clrMapOvr>
  <p:timing>
    <p:tnLst>
      <p:par>
        <p:cTn id="1" dur="indefinite" restart="never" nodeType="tmRoot"/>
      </p:par>
    </p:tnLst>
  </p:timing>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93</TotalTime>
  <Words>1001</Words>
  <Application>Microsoft Office PowerPoint</Application>
  <PresentationFormat>Widescreen</PresentationFormat>
  <Paragraphs>97</Paragraphs>
  <Slides>23</Slides>
  <Notes>0</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23</vt:i4>
      </vt:variant>
    </vt:vector>
  </HeadingPairs>
  <TitlesOfParts>
    <vt:vector size="28" baseType="lpstr">
      <vt:lpstr>Arial</vt:lpstr>
      <vt:lpstr>Calibri</vt:lpstr>
      <vt:lpstr>Calibri Light</vt:lpstr>
      <vt:lpstr>Times New Roman</vt:lpstr>
      <vt:lpstr>Office Theme</vt:lpstr>
      <vt:lpstr>AES (Advanced Encryption Standard)</vt:lpstr>
      <vt:lpstr>AES (Advanced Encryption Standard)</vt:lpstr>
      <vt:lpstr>AES (Advanced Encryption Standard)</vt:lpstr>
      <vt:lpstr>AES (Advanced Encryption Standard)</vt:lpstr>
      <vt:lpstr>AES (Advanced Encryption Standard)</vt:lpstr>
      <vt:lpstr>AES (Advanced Encryption Standard)</vt:lpstr>
      <vt:lpstr>AES (Advanced Encryption Standard)</vt:lpstr>
      <vt:lpstr>AES (Advanced Encryption Standard)</vt:lpstr>
      <vt:lpstr>AES (Advanced Encryption Standard)</vt:lpstr>
      <vt:lpstr>AES (Advanced Encryption Standard)</vt:lpstr>
      <vt:lpstr>AES (Advanced Encryption Standard)</vt:lpstr>
      <vt:lpstr>AES (Advanced Encryption Standard)</vt:lpstr>
      <vt:lpstr>AES (Advanced Encryption Standard)</vt:lpstr>
      <vt:lpstr>AES (Advanced Encryption Standard)</vt:lpstr>
      <vt:lpstr>AES (Advanced Encryption Standard)</vt:lpstr>
      <vt:lpstr>AES (Advanced Encryption Standard)</vt:lpstr>
      <vt:lpstr>AES (Advanced Encryption Standard)</vt:lpstr>
      <vt:lpstr>AES (Advanced Encryption Standard)</vt:lpstr>
      <vt:lpstr>AES (Advanced Encryption Standard)</vt:lpstr>
      <vt:lpstr>AES (Advanced Encryption Standard)</vt:lpstr>
      <vt:lpstr>AES (Advanced Encryption Standard)</vt:lpstr>
      <vt:lpstr>AES (Advanced Encryption Standard)</vt:lpstr>
      <vt:lpstr>AES (Advanced Encryption Standard)</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AES (Advanced Encryption Standard)</dc:title>
  <dc:creator>khan</dc:creator>
  <cp:lastModifiedBy>khan</cp:lastModifiedBy>
  <cp:revision>9</cp:revision>
  <dcterms:created xsi:type="dcterms:W3CDTF">2020-07-03T04:50:03Z</dcterms:created>
  <dcterms:modified xsi:type="dcterms:W3CDTF">2020-07-05T10:12:37Z</dcterms:modified>
</cp:coreProperties>
</file>